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828e43d2274e26" /><Relationship Type="http://schemas.openxmlformats.org/officeDocument/2006/relationships/extended-properties" Target="/docProps/app.xml" Id="R0aa29f6aaf444e8e" /><Relationship Type="http://schemas.openxmlformats.org/officeDocument/2006/relationships/officeDocument" Target="/ppt/presentation.xml" Id="R703b33fc1e86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2381f8f1914489"/>
  </p:sldMasterIdLst>
  <p:notesMasterIdLst>
    <p:notesMasterId xmlns:r="http://schemas.openxmlformats.org/officeDocument/2006/relationships" r:id="Re1bfad4af18142e8"/>
  </p:notesMasterIdLst>
  <p:sldIdLst>
    <p:sldId xmlns:r="http://schemas.openxmlformats.org/officeDocument/2006/relationships" id="256" r:id="Rab81ceba20724d03"/>
    <p:sldId xmlns:r="http://schemas.openxmlformats.org/officeDocument/2006/relationships" id="257" r:id="R923436e29efe496e"/>
    <p:sldId xmlns:r="http://schemas.openxmlformats.org/officeDocument/2006/relationships" id="258" r:id="R3fc5ceeec56d44b4"/>
    <p:sldId xmlns:r="http://schemas.openxmlformats.org/officeDocument/2006/relationships" id="259" r:id="Rfbd9f11169e84697"/>
    <p:sldId xmlns:r="http://schemas.openxmlformats.org/officeDocument/2006/relationships" id="260" r:id="R08794ea8d705431a"/>
    <p:sldId xmlns:r="http://schemas.openxmlformats.org/officeDocument/2006/relationships" id="261" r:id="R4c7f249b3ed443e3"/>
    <p:sldId xmlns:r="http://schemas.openxmlformats.org/officeDocument/2006/relationships" id="262" r:id="Rb8dca87086434a15"/>
    <p:sldId xmlns:r="http://schemas.openxmlformats.org/officeDocument/2006/relationships" id="263" r:id="R72e96a41d50d4639"/>
    <p:sldId xmlns:r="http://schemas.openxmlformats.org/officeDocument/2006/relationships" id="264" r:id="R79069caa8cb24222"/>
    <p:sldId xmlns:r="http://schemas.openxmlformats.org/officeDocument/2006/relationships" id="265" r:id="R06673b0409ba438d"/>
    <p:sldId xmlns:r="http://schemas.openxmlformats.org/officeDocument/2006/relationships" id="266" r:id="R2882151992054810"/>
    <p:sldId xmlns:r="http://schemas.openxmlformats.org/officeDocument/2006/relationships" id="267" r:id="Rdc23764bdd364aba"/>
    <p:sldId xmlns:r="http://schemas.openxmlformats.org/officeDocument/2006/relationships" id="268" r:id="Rfb2779524e824ae5"/>
    <p:sldId xmlns:r="http://schemas.openxmlformats.org/officeDocument/2006/relationships" id="269" r:id="R61ddef9586e344f7"/>
    <p:sldId xmlns:r="http://schemas.openxmlformats.org/officeDocument/2006/relationships" id="270" r:id="R5e6124e2b412466f"/>
    <p:sldId xmlns:r="http://schemas.openxmlformats.org/officeDocument/2006/relationships" id="271" r:id="Re3f44634b7d344f2"/>
    <p:sldId xmlns:r="http://schemas.openxmlformats.org/officeDocument/2006/relationships" id="272" r:id="R0beea1b0087741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9120ea063b435a" /><Relationship Type="http://schemas.openxmlformats.org/officeDocument/2006/relationships/slideMaster" Target="/ppt/slideMasters/slideMaster1.xml" Id="Re12381f8f1914489" /><Relationship Type="http://schemas.openxmlformats.org/officeDocument/2006/relationships/notesMaster" Target="/ppt/notesMasters/notesMaster1.xml" Id="Re1bfad4af18142e8" /><Relationship Type="http://schemas.openxmlformats.org/officeDocument/2006/relationships/presProps" Target="/ppt/presProps.xml" Id="R42dcff866c6c46a5" /><Relationship Type="http://schemas.openxmlformats.org/officeDocument/2006/relationships/tableStyles" Target="/ppt/tableStyles.xml" Id="R387401db35134be1" /><Relationship Type="http://schemas.openxmlformats.org/officeDocument/2006/relationships/slide" Target="/ppt/slides/slide1.xml" Id="Rab81ceba20724d03" /><Relationship Type="http://schemas.openxmlformats.org/officeDocument/2006/relationships/slide" Target="/ppt/slides/slide2.xml" Id="R923436e29efe496e" /><Relationship Type="http://schemas.openxmlformats.org/officeDocument/2006/relationships/slide" Target="/ppt/slides/slide3.xml" Id="R3fc5ceeec56d44b4" /><Relationship Type="http://schemas.openxmlformats.org/officeDocument/2006/relationships/slide" Target="/ppt/slides/slide4.xml" Id="Rfbd9f11169e84697" /><Relationship Type="http://schemas.openxmlformats.org/officeDocument/2006/relationships/slide" Target="/ppt/slides/slide5.xml" Id="R08794ea8d705431a" /><Relationship Type="http://schemas.openxmlformats.org/officeDocument/2006/relationships/slide" Target="/ppt/slides/slide6.xml" Id="R4c7f249b3ed443e3" /><Relationship Type="http://schemas.openxmlformats.org/officeDocument/2006/relationships/slide" Target="/ppt/slides/slide7.xml" Id="Rb8dca87086434a15" /><Relationship Type="http://schemas.openxmlformats.org/officeDocument/2006/relationships/slide" Target="/ppt/slides/slide8.xml" Id="R72e96a41d50d4639" /><Relationship Type="http://schemas.openxmlformats.org/officeDocument/2006/relationships/slide" Target="/ppt/slides/slide9.xml" Id="R79069caa8cb24222" /><Relationship Type="http://schemas.openxmlformats.org/officeDocument/2006/relationships/slide" Target="/ppt/slides/slide10.xml" Id="R06673b0409ba438d" /><Relationship Type="http://schemas.openxmlformats.org/officeDocument/2006/relationships/slide" Target="/ppt/slides/slide11.xml" Id="R2882151992054810" /><Relationship Type="http://schemas.openxmlformats.org/officeDocument/2006/relationships/slide" Target="/ppt/slides/slide12.xml" Id="Rdc23764bdd364aba" /><Relationship Type="http://schemas.openxmlformats.org/officeDocument/2006/relationships/slide" Target="/ppt/slides/slide13.xml" Id="Rfb2779524e824ae5" /><Relationship Type="http://schemas.openxmlformats.org/officeDocument/2006/relationships/slide" Target="/ppt/slides/slide14.xml" Id="R61ddef9586e344f7" /><Relationship Type="http://schemas.openxmlformats.org/officeDocument/2006/relationships/slide" Target="/ppt/slides/slide15.xml" Id="R5e6124e2b412466f" /><Relationship Type="http://schemas.openxmlformats.org/officeDocument/2006/relationships/slide" Target="/ppt/slides/slide16.xml" Id="Re3f44634b7d344f2" /><Relationship Type="http://schemas.openxmlformats.org/officeDocument/2006/relationships/slide" Target="/ppt/slides/slide17.xml" Id="R0beea1b00877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19b77352bd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33c86a8b44a75" /><Relationship Type="http://schemas.openxmlformats.org/officeDocument/2006/relationships/notesMaster" Target="/ppt/notesMasters/notesMaster1.xml" Id="R9c874dff92454f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08a94f83db4df5" /><Relationship Type="http://schemas.openxmlformats.org/officeDocument/2006/relationships/notesMaster" Target="/ppt/notesMasters/notesMaster1.xml" Id="Recc3b14f504a4b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d3631708ec45a8" /><Relationship Type="http://schemas.openxmlformats.org/officeDocument/2006/relationships/notesMaster" Target="/ppt/notesMasters/notesMaster1.xml" Id="R7628ba8a3b9f40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bb3ce0c2ad44ab" /><Relationship Type="http://schemas.openxmlformats.org/officeDocument/2006/relationships/notesMaster" Target="/ppt/notesMasters/notesMaster1.xml" Id="Rd0f316a3b58c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36421e2fd94670" /><Relationship Type="http://schemas.openxmlformats.org/officeDocument/2006/relationships/notesMaster" Target="/ppt/notesMasters/notesMaster1.xml" Id="R4beb8e505de740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0ce7666f884fe6" /><Relationship Type="http://schemas.openxmlformats.org/officeDocument/2006/relationships/notesMaster" Target="/ppt/notesMasters/notesMaster1.xml" Id="Ra854dfcdbcaa47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706fe66774d16" /><Relationship Type="http://schemas.openxmlformats.org/officeDocument/2006/relationships/notesMaster" Target="/ppt/notesMasters/notesMaster1.xml" Id="R445029ac847342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70e4dccac847f0" /><Relationship Type="http://schemas.openxmlformats.org/officeDocument/2006/relationships/notesMaster" Target="/ppt/notesMasters/notesMaster1.xml" Id="Rb5ea33e1795649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af0ccf31654805" /><Relationship Type="http://schemas.openxmlformats.org/officeDocument/2006/relationships/notesMaster" Target="/ppt/notesMasters/notesMaster1.xml" Id="R54ffe0004dfc4c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cf3389badb4f51" /><Relationship Type="http://schemas.openxmlformats.org/officeDocument/2006/relationships/notesMaster" Target="/ppt/notesMasters/notesMaster1.xml" Id="Rd1824b50bd464d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37b38dde754297" /><Relationship Type="http://schemas.openxmlformats.org/officeDocument/2006/relationships/notesMaster" Target="/ppt/notesMasters/notesMaster1.xml" Id="Rcba8fe3fa2ca4c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9ae516e5c64dd4" /><Relationship Type="http://schemas.openxmlformats.org/officeDocument/2006/relationships/notesMaster" Target="/ppt/notesMasters/notesMaster1.xml" Id="Rc17150f8738f4e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21bebabfb543e3" /><Relationship Type="http://schemas.openxmlformats.org/officeDocument/2006/relationships/notesMaster" Target="/ppt/notesMasters/notesMaster1.xml" Id="R9f18473f2b7344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ef54e0adcb4e2f" /><Relationship Type="http://schemas.openxmlformats.org/officeDocument/2006/relationships/notesMaster" Target="/ppt/notesMasters/notesMaster1.xml" Id="Re0b30503393242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351bca2bc64ecb" /><Relationship Type="http://schemas.openxmlformats.org/officeDocument/2006/relationships/notesMaster" Target="/ppt/notesMasters/notesMaster1.xml" Id="R7066641c78584b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6af9b955e9408b" /><Relationship Type="http://schemas.openxmlformats.org/officeDocument/2006/relationships/notesMaster" Target="/ppt/notesMasters/notesMaster1.xml" Id="Rf3199281059347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687f8d68544ab3" /><Relationship Type="http://schemas.openxmlformats.org/officeDocument/2006/relationships/notesMaster" Target="/ppt/notesMasters/notesMaster1.xml" Id="Rc8f551a94a61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</a:t>
            </a:r>
          </a:p>
          <a:p xmlns:a="http://schemas.openxmlformats.org/drawingml/2006/main">
            <a:r>
              <a:t>- https://arxiv.org/pdf/2603.18459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(pp. 2-4)</a:t>
            </a:r>
          </a:p>
          <a:p xmlns:a="http://schemas.openxmlformats.org/drawingml/2006/main">
            <a:r>
              <a:t>- https://arxiv.org/pdf/2603.18459 (pp. 4-10)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(Appendix A.2, p. 14)</a:t>
            </a:r>
          </a:p>
          <a:p xmlns:a="http://schemas.openxmlformats.org/drawingml/2006/main">
            <a:r>
              <a:t>- https://arxiv.org/pdf/2603.18459 (§3.1, pp. 4-5; §5.1.1, pp. 13-14)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(pp. 5, 14-15)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The paper does not list the exact raw MIMIC-IV tables or code crosswalks.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(§2.1, pp. 2-3)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(§2.2, pp. 3-4)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(Figure 1, p. 3; §2.2, pp. 3-4)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(§2.3, pp. 4-5; Figure 4, p. 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https://arxiv.org/pdf/2603.18459 (§3.1, pp. 4-5; §5.1.1 and Table 2, pp. 13-14; Table 3, p. 16)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https://arxiv.org/pdf/2603.18459 (§3.2, pp. 5-6; Algorithm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https://arxiv.org/pdf/2603.18459 (§4.1.1, pp. 7-9; Figure 4, p.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https://arxiv.org/pdf/2603.18459 (Algorithm 2, p. 8; §4.1.2, pp. 9-10)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https://arxiv.org/pdf/2603.18459 (§4.2, pp. 10-12; Figure 3, p. 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(§2)</a:t>
            </a:r>
          </a:p>
          <a:p xmlns:a="http://schemas.openxmlformats.org/drawingml/2006/main">
            <a:r>
              <a:t>- https://arxiv.org/pdf/2603.18459 (§3-4)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(§2.1-2.3)</a:t>
            </a:r>
          </a:p>
          <a:p xmlns:a="http://schemas.openxmlformats.org/drawingml/2006/main">
            <a:r>
              <a:t>- https://arxiv.org/pdf/2603.18459 (§4.1-4.2)</a:t>
            </a:r>
          </a:p>
          <a:p xmlns:a="http://schemas.openxmlformats.org/drawingml/2006/main">
            <a:r>
              <a:t>- /Users/k/Documents/work/SimilarCasesRetrieval/docs/PROJECT_BRIEF.md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This slide is an explicit design inference, not a claim made verbatim by either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 (all sections and appendices)</a:t>
            </a:r>
          </a:p>
          <a:p xmlns:a="http://schemas.openxmlformats.org/drawingml/2006/main">
            <a:r>
              <a:t>- https://arxiv.org/pdf/2603.18459 (all sections)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https://proceedings.iclr.cc/paper_files/paper/2024/file/a71c1931d3fb8ba564f7458d0657d0b1-Paper-Conference.pdf</a:t>
            </a:r>
          </a:p>
          <a:p xmlns:a="http://schemas.openxmlformats.org/drawingml/2006/main">
            <a:r>
              <a:t>- https://arxiv.org/pdf/2603.18459</a:t>
            </a:r>
          </a:p>
          <a:p xmlns:a="http://schemas.openxmlformats.org/drawingml/2006/main">
            <a:r>
              <a:t>- /Users/k/Documents/work/SimilarCasesRetrieval/docs/PROJECT_BRIEF.md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This is a project recommendation inferred from the reviewed methods.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5f4c0c21a42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fd1699ac544780" /><Relationship Type="http://schemas.openxmlformats.org/officeDocument/2006/relationships/slideLayout" Target="/ppt/slideLayouts/slideLayout1.xml" Id="Red48ab252ff94a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48ab252ff94a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2d29d20c45cb" /><Relationship Type="http://schemas.openxmlformats.org/officeDocument/2006/relationships/notesSlide" Target="/ppt/notesSlides/notesSlide1.xml" Id="Ra836920859f043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bd4fd56fb4b97" /><Relationship Type="http://schemas.openxmlformats.org/officeDocument/2006/relationships/notesSlide" Target="/ppt/notesSlides/notesSlide2.xml" Id="R0aaa4fea2b9149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627243bba416a" /><Relationship Type="http://schemas.openxmlformats.org/officeDocument/2006/relationships/notesSlide" Target="/ppt/notesSlides/notesSlide3.xml" Id="R8fb64a194b23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930403e08450e" /><Relationship Type="http://schemas.openxmlformats.org/officeDocument/2006/relationships/notesSlide" Target="/ppt/notesSlides/notesSlide4.xml" Id="Rb38c56e86da84c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54e9b9f164b0d" /><Relationship Type="http://schemas.openxmlformats.org/officeDocument/2006/relationships/notesSlide" Target="/ppt/notesSlides/notesSlide5.xml" Id="R134ea1649465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40f890ec1487a" /><Relationship Type="http://schemas.openxmlformats.org/officeDocument/2006/relationships/notesSlide" Target="/ppt/notesSlides/notesSlide6.xml" Id="Rbda4ad7718c24f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b84b0f9c46d6" /><Relationship Type="http://schemas.openxmlformats.org/officeDocument/2006/relationships/image" Target="/ppt/media/image.png" Id="R772ea116483e4653" /><Relationship Type="http://schemas.openxmlformats.org/officeDocument/2006/relationships/notesSlide" Target="/ppt/notesSlides/notesSlide7.xml" Id="R9a3063399e8649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cd3f0dc943f4" /><Relationship Type="http://schemas.openxmlformats.org/officeDocument/2006/relationships/image" Target="/ppt/media/image2.png" Id="R7189a78e10044ffb" /><Relationship Type="http://schemas.openxmlformats.org/officeDocument/2006/relationships/notesSlide" Target="/ppt/notesSlides/notesSlide8.xml" Id="R91b6fdccf6c449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bbb907e9a441e" /><Relationship Type="http://schemas.openxmlformats.org/officeDocument/2006/relationships/notesSlide" Target="/ppt/notesSlides/notesSlide9.xml" Id="R4b32bc5ff38d46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ac8391e3f4d7b" /><Relationship Type="http://schemas.openxmlformats.org/officeDocument/2006/relationships/notesSlide" Target="/ppt/notesSlides/notesSlide10.xml" Id="Rcf08b7e2fa7647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fe5bffb334add" /><Relationship Type="http://schemas.openxmlformats.org/officeDocument/2006/relationships/image" Target="/ppt/media/image3.png" Id="Rd94e1aabfd654722" /><Relationship Type="http://schemas.openxmlformats.org/officeDocument/2006/relationships/notesSlide" Target="/ppt/notesSlides/notesSlide11.xml" Id="R2b24e998197f47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abbe1b0924695" /><Relationship Type="http://schemas.openxmlformats.org/officeDocument/2006/relationships/notesSlide" Target="/ppt/notesSlides/notesSlide12.xml" Id="R323a73544ad947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d6f111d2d4202" /><Relationship Type="http://schemas.openxmlformats.org/officeDocument/2006/relationships/image" Target="/ppt/media/image4.png" Id="R5f6feb1d8e104f4f" /><Relationship Type="http://schemas.openxmlformats.org/officeDocument/2006/relationships/notesSlide" Target="/ppt/notesSlides/notesSlide13.xml" Id="R8ed7520ac61944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19083b2fc475d" /><Relationship Type="http://schemas.openxmlformats.org/officeDocument/2006/relationships/notesSlide" Target="/ppt/notesSlides/notesSlide14.xml" Id="R02651412757d49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7793515ad4c75" /><Relationship Type="http://schemas.openxmlformats.org/officeDocument/2006/relationships/notesSlide" Target="/ppt/notesSlides/notesSlide15.xml" Id="R82eac239ecca4b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235aaa057404d" /><Relationship Type="http://schemas.openxmlformats.org/officeDocument/2006/relationships/notesSlide" Target="/ppt/notesSlides/notesSlide16.xml" Id="Rbdf6d159ed12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3a6c24db94bd6" /><Relationship Type="http://schemas.openxmlformats.org/officeDocument/2006/relationships/notesSlide" Target="/ppt/notesSlides/notesSlide17.xml" Id="Rcf596652855c4e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707BC-1B8D-4EF8-A911-E63BA7A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PAPER REVIEW · MIMIC-IV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0174B-D6D5-484B-A88C-A8E23E62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1000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Biểu diễn đồ thị</a:t>
            </a:r>
          </a:p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từ MIMIC-IV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892A4-8238-4EE8-B21C-2F718717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GT-BEHRT (ICLR 2024) và HypeMed (2026)</a:t>
            </a:r>
          </a:p>
          <a:p xmlns:a="http://schemas.openxmlformats.org/drawingml/2006/main">
            <a:pPr algn="l">
              <a:defRPr sz="21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Từ mã EHR đến graph, visit và patient embeddings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DB012-874F-4B70-93F9-894CAAA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005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0">
            <a:solidFill>
              <a:srgbClr val="4078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C2B88-8974-4FB7-917A-BD3DA3A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81025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41"/>
          </a:solidFill>
          <a:ln xmlns:a="http://schemas.openxmlformats.org/drawingml/2006/main" w="0">
            <a:solidFill>
              <a:srgbClr val="D9784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3976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205B48-572F-4362-B05B-26A5515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Cùng mã EHR, hai cấu trúc đồ thị khác nhau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A69CC1ED-A22E-4A85-80BB-5D8F97E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§2; HypeMed §3-4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0CDC60-7517-4036-9DFF-8950F6C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E866E-DCB5-42C4-A917-99AFE4B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90625"/>
            <a:ext cx="1141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Làm thế nào biến các mã rời rạc trong từng lần khám thành vector có ý nghĩa?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 flipV="0">
            <a:off x="6096000" y="1876425"/>
            <a:ext cx="0" cy="3600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9B60C-E240-402A-A07A-E6F176FF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478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GT-BEHRT · graph theo từng visit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AB43E-70AA-4911-B06A-3848E10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38425"/>
            <a:ext cx="53340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Mỗi visit tạo một graph đầy đủ.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Đỉnh = diagnosis / medication / procedure code + &lt;VST&gt;.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Cạnh = mọi cặp đỉnh, có type theo cặp loại mã.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&lt;VST&gt; đọc ra graph embedding g_t.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6354-05F7-44EE-B358-BDDC54B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478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HypeMed · hypergraph theo từng miền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C6511-E069-41A4-A299-D3357AD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38425"/>
            <a:ext cx="53340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Ba hypergraph toàn cục: D, P, M.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Đỉnh = medical entity code.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Hyperedge = một visit nối đồng thời mọi code cùng miền.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Encoder học cả node embedding Z và visit/hyperedge embedding U.</a:t>
            </a:r>
          </a:p>
        </p:txBody>
      </p:sp>
    </p:spTree>
    <p:extLst>
      <p:ext uri="{BB962C8B-B14F-4D97-AF65-F5344CB8AC3E}">
        <p14:creationId xmlns:p14="http://schemas.microsoft.com/office/powerpoint/2010/main" val="124143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65FE62-9799-477F-BBCD-31DCEF4B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Hai paper khác cửa sổ quan sát và mục tiêu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F409EDA-FD7F-482E-8CC7-6DEA4ED9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Appendix A.2; HypeMed §3.1, §5.1.1, Table 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5375E83-055C-499A-8751-4C7B4B95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 flipV="0">
            <a:off x="6096000" y="1304925"/>
            <a:ext cx="0" cy="45053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F6F44-65BE-4718-A9A6-0191D2D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GT-BEHRT · dự báo ICU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FF66-9D9A-4086-A60A-1AB48B3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66925"/>
            <a:ext cx="53340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Dữ liệu dùng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Conditions, medications, procedures từ module hosp.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Visit type, tuổi tại visit, ngày trong năm, vị trí 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Cửa sổ quan sát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Chỉ record xuất hiện trước ICU admission.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Nhãn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Tử vong trong ICU.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ICU length of stay &gt; 72 giờ.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A380D-92B9-444D-A55C-E8A427F9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76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HypeMed · gợi ý thuốc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D8D57-08F6-4D9D-9793-98705A70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66925"/>
            <a:ext cx="53340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Dữ liệu dùng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Diagnosis, procedure, medication multi-hot theo visit.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Lịch sử visit có thứ tự.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Cửa sổ quan sát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Current diagnosis + procedure và các visit trước.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Nhãn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Medication set của current visit; DDI graph chỉ tham gia loss/safety, không phải MIMIC-IV input.</a:t>
            </a:r>
          </a:p>
        </p:txBody>
      </p:sp>
    </p:spTree>
    <p:extLst>
      <p:ext uri="{BB962C8B-B14F-4D97-AF65-F5344CB8AC3E}">
        <p14:creationId xmlns:p14="http://schemas.microsoft.com/office/powerpoint/2010/main" val="395406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B8C6AE-12B5-4FAA-80F9-7C11F47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GT-BEHRT chỉ nhìn lịch sử trước ICU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5E6FFD2-F1F4-4661-A65C-C08B436F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Poulain &amp; Beheshti, 2024, Appendix A.2-A.3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9216FE3-FE08-4235-BEA7-FBC69B8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 flipV="0">
            <a:off x="6096000" y="1600200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cxnSp>
        <p:nvCxnSpPr>
          <p:cNvPr id="19" name=""/>
          <p:cNvCxnSpPr/>
          <p:nvPr/>
        </p:nvCxnSpPr>
        <p:spPr>
          <a:xfrm xmlns:a="http://schemas.openxmlformats.org/drawingml/2006/main" flipV="0">
            <a:off x="390525" y="3552825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2B788-7DF5-48AB-95F0-6FFF8E3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00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22.376 bệnh nhân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1DDBE-B10A-48B1-8A1F-8F4BE8A3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Cohort downstream từ các bệnh nhân có ICU admission trong MIMIC-IV.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8721F-12B7-4411-8BAA-0BC042D1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600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76.253 bệnh nhân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2615A-A732-43FB-9453-F7A7055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955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Cohort pre-training riêng, lớn hơn cohort gắn nhãn downstream.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BC582-EC9B-446A-B7D3-92A1C00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24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Tối thiểu 2 visits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B1A39-8730-4B70-B27E-E3110FE1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957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Loại bệnh nhân chỉ có 1 visit để mô hình có tín hiệu thời gian.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2303B-1429-4F02-BF79-B90F569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24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80 / 10 / 10 ×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046B8-9680-49E2-911F-9D39585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957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Random train / validation / test; lặp 5 seed và báo mean ± std.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ED64E-283D-4700-A045-6065692D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rPr>
              <a:t>Ranh giới chống leakage của paper: chỉ lấy conditions, medications, procedures và context đã xuất hiện trước ICU admission.</a:t>
            </a:r>
          </a:p>
        </p:txBody>
      </p:sp>
    </p:spTree>
    <p:extLst>
      <p:ext uri="{BB962C8B-B14F-4D97-AF65-F5344CB8AC3E}">
        <p14:creationId xmlns:p14="http://schemas.microsoft.com/office/powerpoint/2010/main" val="853854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87328-D9E3-4929-8B01-F6481404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GT-BEHRT: mỗi visit là complete typed graph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4251E532-778D-4591-873E-DAA4589E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§2.1, Figure 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EA5BFE-D2F6-4605-8395-570B9E8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CFCEF-51BC-4BFE-B2D5-A25CAAFB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Đỉnh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30603-A3DB-480E-ABF4-76BD973B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Mỗi diagnosis / medication / procedure code trong C_t.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Thêm virtual node &lt;VST&gt; để đọc toàn graph.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Tổng: |C_t| + 1 đỉnh.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910DF-293F-4822-9D7E-C0A09226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Cạnh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8F1A3-9C20-4353-9D66-587B2A3E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24300"/>
            <a:ext cx="4667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Vô hướng, nối đầy đủ mọi cặp đỉnh.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Type cạnh mã hóa cặp loại code: D-D, D-M, M-P, ...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Cạnh &lt;VST&gt;-code dùng một type riêng.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Đây là giả định cấu trúc, không phải quan hệ nhân quả.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 flipV="0">
            <a:off x="6905625" y="2333625"/>
            <a:ext cx="3048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 flipV="1">
            <a:off x="6810375" y="2333625"/>
            <a:ext cx="9525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 flipV="0">
            <a:off x="6905625" y="2333625"/>
            <a:ext cx="3190875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 flipV="1">
            <a:off x="6810375" y="2381250"/>
            <a:ext cx="314325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 flipV="0">
            <a:off x="9953625" y="2381250"/>
            <a:ext cx="142875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 flipV="1">
            <a:off x="6810375" y="4810125"/>
            <a:ext cx="32861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0A8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 flipV="0">
            <a:off x="6905625" y="2333625"/>
            <a:ext cx="15240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78C0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 flipV="1">
            <a:off x="8429625" y="2381250"/>
            <a:ext cx="15240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78C0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 flipV="1">
            <a:off x="6810375" y="3524250"/>
            <a:ext cx="1619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78C0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 flipV="0">
            <a:off x="8429625" y="3524250"/>
            <a:ext cx="1666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078C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613F0-A2C0-4DE3-867E-35C5E4B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FA874-44A6-4D2B-BBB1-2647246D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718FB-7B0B-4BAC-89D0-692160ED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B9598-0A18-4A89-93C6-3E60B217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6C268-C0F8-48E4-812F-278719BB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76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87F5B-63EA-44D8-AC06-9B5B317C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76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cạnh code-code: type theo cặp miền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AB836-ED09-42AF-A8F1-A903E19F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cạnh VST-code: type riêng</a:t>
            </a:r>
          </a:p>
        </p:txBody>
      </p:sp>
    </p:spTree>
    <p:extLst>
      <p:ext uri="{BB962C8B-B14F-4D97-AF65-F5344CB8AC3E}">
        <p14:creationId xmlns:p14="http://schemas.microsoft.com/office/powerpoint/2010/main" val="1259901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58C7FE-2645-4509-AEC0-582C94A8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GT-BEHRT: bốn bước thu graph embedding g_t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160F632-AAFB-441E-A8A4-A71F0508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§2.2, Eq. (1)-(2)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1E3DAD-3435-4299-85A7-4805335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 flipV="0">
            <a:off x="6096000" y="1571625"/>
            <a:ext cx="0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 flipV="0">
            <a:off x="390525" y="36195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C893B-6FCF-473A-B5AA-63A5446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1 · Lookup embeddings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42DC9-6334-4E62-A329-F3602452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6692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Medical code và edge type là category. Hai bảng học được ánh xạ chúng thành H⁰ và E_ij trong latent space d chiều.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121C5-9C6E-4D53-A28A-506002A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71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2 · Edge-conditioned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5AB71-F54A-4C6D-9848-24B9D7D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6692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E_ij W_E được cộng vào Key và Value. Vì vậy attention phụ thuộc đồng thời node feature và loại quan hệ i-j.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6EC12-B5E3-488F-8AF1-EF53F1D6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3 · L lớp Graph 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29C18-8A88-472D-8CA3-5DF1AB43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Multi-head attention + feed-forward, pre-layer normalization và residual connection cập nhật toàn bộ node states Hˡ.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C358C-A22C-4DB4-B807-02D6DA7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90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4 · &lt;VST&gt; readout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85D20-3364-42CB-859E-D07E82BA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86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Không mean/sum pool. Lấy state cuối của virtual node: g_t = Hᴸ_&lt;VST&gt;; node này học cách attend tới code quan trọng.</a:t>
            </a:r>
          </a:p>
        </p:txBody>
      </p:sp>
    </p:spTree>
    <p:extLst>
      <p:ext uri="{BB962C8B-B14F-4D97-AF65-F5344CB8AC3E}">
        <p14:creationId xmlns:p14="http://schemas.microsoft.com/office/powerpoint/2010/main" val="2006918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01E2C-362A-450D-B5D8-23F6FB47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GT-BEHRT: từ g_t đến patient embedding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BA8827C-AF7C-4B65-A763-D5EC83B2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Figure 1, §2.2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996FA4-0494-4CCD-8B4F-DFF7882F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6947-E45D-4A06-B2E9-BFEBA89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1 · Context của visit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7B14B-350C-4612-9377-4EF2B79D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478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Lookup bốn vector: position, visit type, age, day-of-year.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A565B-A9DB-4B6F-BDEA-040FC96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2 · Visit vector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3A127-B0D1-48C5-B3F5-2682871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861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Nối [g_t; Pos_t; Type_t; Age_t; Day_t], rồi linear projection thành v_t.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723D-D46A-4FDD-A086-B8D530AB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33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3 · Patient vector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61804-1BE3-49CE-9B30-B4D86D6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Đưa &lt;CLS&gt;, v₁...v_T qua Transformer Encoder. State S_&lt;CLS&gt; là patient representation cho downstream classifier.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2B57B-4113-4AD7-988E-5CC3BA67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28750"/>
            <a:ext cx="62198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B5CA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ea116483e4653"/>
          <a:stretch xmlns:a="http://schemas.openxmlformats.org/drawingml/2006/main"/>
        </p:blipFill>
        <p:spPr>
          <a:xfrm xmlns:a="http://schemas.openxmlformats.org/drawingml/2006/main">
            <a:off x="5715000" y="2368091"/>
            <a:ext cx="5953125" cy="206466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33767-FEC2-455A-93EA-9CEE7A9A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Figure 1 · sơ đồ gốc của paper</a:t>
            </a:r>
          </a:p>
        </p:txBody>
      </p:sp>
    </p:spTree>
    <p:extLst>
      <p:ext uri="{BB962C8B-B14F-4D97-AF65-F5344CB8AC3E}">
        <p14:creationId xmlns:p14="http://schemas.microsoft.com/office/powerpoint/2010/main" val="1858907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9245E2-B90C-44EC-9F09-9207377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GT-BEHRT: pre-train node → graph → temporal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CB6E244-B8D0-4F01-9C8E-1D34279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GT-BEHRT §2.3, Figure 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C2E5B6-D6CE-496E-96E2-CB8CF86A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1BE5E-0280-4AFB-B568-352E0BA6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6286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B5CAE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9a78e10044ffb"/>
          <a:stretch xmlns:a="http://schemas.openxmlformats.org/drawingml/2006/main"/>
        </p:blipFill>
        <p:spPr>
          <a:xfrm xmlns:a="http://schemas.openxmlformats.org/drawingml/2006/main">
            <a:off x="514350" y="2017868"/>
            <a:ext cx="6048375" cy="27270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0E527-1F70-41C3-80E1-0450B795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Figure 4 · hai stage pre-training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1229C-D7A8-4A26-BC0C-C4876BD6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71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Stage 1 · NAM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FD0C-C306-428D-B271-85CB4D3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47875"/>
            <a:ext cx="4333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Mask ngẫu nhiên 15% node; Graph Transformer dự đoán code gốc từ Hᴸ trước pooling. Mục tiêu: node embeddings tốt hơn trong nội bộ visit.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592DC-621C-4139-A0A2-C9879824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Stage 2 · MNP + VTP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2F972-C996-4E2E-A523-228FE9A1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52875"/>
            <a:ext cx="4333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MNP: bỏ 1 node và các cạnh ở graph có ≥3 node.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VTP: mask 50% visit types.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Cả hai dự đoán từ output sau graph pooling + patient Transformer, nên nhìn được visit trước/sau.</a:t>
            </a:r>
          </a:p>
        </p:txBody>
      </p:sp>
    </p:spTree>
    <p:extLst>
      <p:ext uri="{BB962C8B-B14F-4D97-AF65-F5344CB8AC3E}">
        <p14:creationId xmlns:p14="http://schemas.microsoft.com/office/powerpoint/2010/main" val="721802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ABC46-B471-44A5-8CE2-4E990D01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HypeMed: MIMIC-IV v2.0 cho gợi ý thuốc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4C58EA7-F1E3-4D55-84DA-63EF7AD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HypeMed §3.1, §5.1.1, Tables 2-3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D0519ED-DD6E-48E9-95B6-693F6168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 flipV="0">
            <a:off x="6096000" y="1524000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cxnSp>
        <p:nvCxnSpPr>
          <p:cNvPr id="19" name=""/>
          <p:cNvCxnSpPr/>
          <p:nvPr/>
        </p:nvCxnSpPr>
        <p:spPr>
          <a:xfrm xmlns:a="http://schemas.openxmlformats.org/drawingml/2006/main" flipV="0">
            <a:off x="390525" y="3476625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5D5F0-6ED6-4154-966E-F399ECCE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9.036 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8F690-4F4E-4A5C-A2A5-0A0B226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19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Sau preprocessing và loại bệnh nhân có &lt;2 visits.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6B14D-4918-4FE8-A59C-E6ED12E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20.616 visits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AEDB9-15CD-4BF2-AD4D-607F326A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19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Trung bình 2,28 visits mỗi bệnh nhân.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F2022-FD07-480D-92EA-53238B1D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480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1.892 D · 4.939 P · 131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4F072-9207-44C8-8E27-50E22777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4337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Số diagnosis, procedure và medication codes duy nhất sau lọc.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03934-B109-4D2A-9B0E-123167D1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480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13,62 D · 3,55 P · 10,29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3F10C-8A9A-47F7-ABF7-D338267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4337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Số code trung bình của từng miền trên mỗi visit.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A111E-3015-4A8B-9142-099F2160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rPr>
              <a:t>SafeDrug-style preprocessing: lọc entity tần suất thấp, chuẩn hóa diagnosis/procedure sang ICD và medication sang ATC. Paper không nêu threshold/crosswalk cụ thể.</a:t>
            </a:r>
          </a:p>
        </p:txBody>
      </p:sp>
    </p:spTree>
    <p:extLst>
      <p:ext uri="{BB962C8B-B14F-4D97-AF65-F5344CB8AC3E}">
        <p14:creationId xmlns:p14="http://schemas.microsoft.com/office/powerpoint/2010/main" val="1415290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11B20E-E50C-45E1-B337-E0B26E70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HypeMed: medical entity là đỉnh, visit là hyperedge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611A5F74-8933-4013-9EF6-18B28435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HypeMed §3.2, Algorithm 1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C34131-E06B-4C64-9623-23C946F1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D5D2B-985C-4E53-8B74-DA74705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Ba hypergraph độc lập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BBB14-B01F-4282-8C16-53803B77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Hᴰ = (Nᴰ,Eᴰ) · Hᴾ = (Nᴾ,Eᴾ) · Hᴹ = (Nᴹ,Eᴹ)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EA140-F1FC-402C-B9A2-F90597A9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Đỉnh Nˣ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B218A-4DCB-4B5B-8929-6C5F8D16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24175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Mỗi diagnosis / procedure / medication code duy nhất là một node trong hypergraph cùng miền.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A0F9F-6BB3-4B56-ACBB-6A45C223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Hyperedge Eˣ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AAD33-CDE3-4D2B-A41E-60834265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0055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Duyệt toàn bộ training visits. Với mỗi visit, tạo một hyperedge nối đồng thời mọi code loại X xuất hiện trong visit đó. Không biến thành các cạnh pairwise.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86FEA-DD99-4F61-8E78-DC4AD25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incidence = code thuộc visit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FCBC6-5C93-4DB6-B07A-1B4A8FC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rPr>
              <a:t>Hᴰ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48925-D98A-4F28-803A-71E34FA5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47875"/>
            <a:ext cx="180975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48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7D70E-4740-466A-A50E-425EB02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1428750" cy="1952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485A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7C97A-9BA5-48E6-A087-621E771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85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rPr>
              <a:t>visit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FE077-1058-4D76-88C7-5315516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91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485A"/>
                </a:solidFill>
                <a:latin typeface="Helvetica Neue"/>
                <a:ea typeface="Helvetica Neue"/>
                <a:cs typeface="Helvetica Neue"/>
              </a:rPr>
              <a:t>visit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7295F-F0B6-4247-B1AE-EE857A5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AA61F-55B2-418C-95BD-850229E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61E42-A659-49F2-A2E2-BA65B80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408EA-DB9D-47BB-BFE1-22AE12E2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8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231C2-CB05-401E-9212-96C84BA7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rPr>
              <a:t>Hᴾ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6649D-72AE-4C7A-8FA4-404746C3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47875"/>
            <a:ext cx="180975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9F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09BC2-294E-44C8-9116-CC2EEF02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1428750" cy="1952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9F58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37E86-EC23-47A7-9356-01DBC9B6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85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rPr>
              <a:t>visit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384B9-7B3E-4500-90F1-28A119E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E9F58"/>
                </a:solidFill>
                <a:latin typeface="Helvetica Neue"/>
                <a:ea typeface="Helvetica Neue"/>
                <a:cs typeface="Helvetica Neue"/>
              </a:rPr>
              <a:t>visit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620D3-6A23-4BCC-95C2-A53A84D6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1A0DB-0BD8-4401-B224-6A36799C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C6914-EDED-477D-8A40-F6E5F25A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6157A-B062-4E5B-818D-BF6E3CB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8BB27-3306-4B11-814D-DE327AE0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811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Hᴹ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773AB-5058-4366-8A65-83A57A6C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47875"/>
            <a:ext cx="180975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78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76BFE-479A-4931-B6C6-9CB94309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86125"/>
            <a:ext cx="1428750" cy="1952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78C0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6F1EA9-6A4A-4100-BE30-FD7CD12B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visit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8E7061-7791-4C7A-B964-2D6FC2C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191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visit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376D02-B3E5-49E1-8987-23AD0512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6BFEFD-D689-43D5-BDE9-970B61F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476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A0C991-4CDC-4FE0-9BE2-3FACB230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104C2-8605-4C9C-9A9D-9137C33A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333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8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M4</a:t>
            </a:r>
          </a:p>
        </p:txBody>
      </p:sp>
    </p:spTree>
    <p:extLst>
      <p:ext uri="{BB962C8B-B14F-4D97-AF65-F5344CB8AC3E}">
        <p14:creationId xmlns:p14="http://schemas.microsoft.com/office/powerpoint/2010/main" val="1993846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23638-E881-46CA-BC8A-3F3E064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KHGE ghép message local với tri thức ICD/ATC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68CC1935-5896-4E6F-93F0-B4F4211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HypeMed §4.1.1, Figure 4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0EDEB9E-1C8E-49B2-84CA-42A3ED9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660C0-601C-41FF-96E7-95C72AEC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1 · LMPN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9371-BB99-453A-808B-4AE2F7B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3357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Hypergraph attention truyền message node → hyperedge → node. Attention coefficient αᵢⱼ điều khiển trọng số membership.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E965E-A04F-4171-8DBB-9CDE87E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2 · KGAN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75DB5-9D11-4F22-B7CB-460F1438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5757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Khoảng cách đường đi trong cây ICD/ATC được biến thành knowledge-bias matrix Ω và cộng vào logits của global self-attention.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C7ECB-870F-479B-B76F-1E0080E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67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3 · Fusion + layer average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D1493-43BF-4952-A422-7DCE6E02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76825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FFN + residual + LayerNorm hợp nhất local/global. Trung bình representation qua L layers để giảm over-smoothing, thu Z và 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13F5-8537-4F85-895F-EB6C85E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64198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E6B59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e1aabfd654722"/>
          <a:stretch xmlns:a="http://schemas.openxmlformats.org/drawingml/2006/main"/>
        </p:blipFill>
        <p:spPr>
          <a:xfrm xmlns:a="http://schemas.openxmlformats.org/drawingml/2006/main">
            <a:off x="5524500" y="2038486"/>
            <a:ext cx="6143625" cy="301915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93B97-7411-4A89-9EA2-3F96AF33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543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Figure 4 · KHGE trong paper</a:t>
            </a:r>
          </a:p>
        </p:txBody>
      </p:sp>
    </p:spTree>
    <p:extLst>
      <p:ext uri="{BB962C8B-B14F-4D97-AF65-F5344CB8AC3E}">
        <p14:creationId xmlns:p14="http://schemas.microsoft.com/office/powerpoint/2010/main" val="1978298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A82E4B-14F6-4B3B-884E-F72B90E3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MedRep học node và visit embeddings bằng InfoNCE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937BCFD-624E-4C80-8DAA-071D822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HypeMed §4.1.2, Algorithm 2, Eq. (4)-(7)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818BD8-41E2-499E-A0CA-F35BBF2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 flipV="0">
            <a:off x="438150" y="5334000"/>
            <a:ext cx="11363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08805-4162-48D4-9EE2-E7A78F3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3C343-4E10-45E2-9377-D550779F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AUGMENT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5C847-0C79-4C0D-BC1A-7861F77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Tạo hai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054CD-336E-4110-A752-7AE66AF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Từ hypergraph gốc, dropout độc lập node, incidence và feature để có H₁, H₂. Phần tử bị drop không tham gia loss.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AB230-747D-48AB-856F-C7B5EC85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21C76-447B-4366-8506-1F21C51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Bước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80BE5-D87E-469A-AFE5-DE51484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FB36C-CDC9-4BD7-AAAC-65F4806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ENCODE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866A4-5A98-4237-B348-CAD87F3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Chạy KHGE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CF24E-D2D3-4268-A000-CFD3FBAD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Mỗi view đi qua cùng encoder để thu (Z₁,U₁) và (Z₂,U₂): node embeddings và hyperedge/visit embeddings.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3264-A142-47CA-8F42-A34BFB63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401BB-3953-4468-8B09-A6E0F023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Bước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6D2D4-005C-4A5B-8ABE-47E201D8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45C46-95EB-4AE2-A304-C3E512A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ALIGN + EXPORT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11632-E5FD-48AF-9F0C-CA9F1D2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InfoNCE 3 mức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04268-3B83-4468-A849-22CBD4A4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Node↔node, hyperedge↔hyperedge và membership node↔hyperedge. Sau pre-training, export Zˣ,Uˣ cho D/P/M.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6A9F0-0144-4997-9C41-54812B4A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A576F-308E-43CA-BA6D-221014B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Bước 3</a:t>
            </a:r>
          </a:p>
        </p:txBody>
      </p:sp>
    </p:spTree>
    <p:extLst>
      <p:ext uri="{BB962C8B-B14F-4D97-AF65-F5344CB8AC3E}">
        <p14:creationId xmlns:p14="http://schemas.microsoft.com/office/powerpoint/2010/main" val="15153455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961C33-1847-486C-824E-1960ECA2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SimMR truy hồi similar visits có điều kiện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4CCF3D9B-AC05-4334-B038-F844F542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Nguồn: HypeMed §4.2, Figure 3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3DE2E7-6F7A-49E2-8FB2-11402A1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A9E30-A483-4711-9603-A3494C63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1 · Current visit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577A6-9C92-4BEB-9947-E16F13C5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Mean-pool entity embeddings từng miền, rồi dùng MHA để thu vᵀ_D, vᵀ_P, vᵀ_M. Health state h_t đến từ diagnosis + procedure.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C77A5-1461-4037-BE84-8D30111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2 · Hai kênh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B9A56-6E2F-4B41-A798-133B5BB8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99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History: attend vào k visit gần nhất của cùng bệnh nhân.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Similar: dùng h_t query top-k training visits trong Uᴴ; lấy medication evidence từ Uᴹ tương ứng.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6D1B6-5AA7-42CD-B01F-885ABE8B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0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3 · Fuse +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269BA-68F4-43BD-9ECA-4D3D3A6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MLP-Softmax trộn v_hist và v_sim; dot-product với medication table Zᴹ tạo xác suất thuốc. Embedding tables vẫn trainable khi fine-tune.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F51A8-735F-4AAA-94AC-0009064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81125"/>
            <a:ext cx="622935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E6B59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feb1d8e104f4f"/>
          <a:stretch xmlns:a="http://schemas.openxmlformats.org/drawingml/2006/main"/>
        </p:blipFill>
        <p:spPr>
          <a:xfrm xmlns:a="http://schemas.openxmlformats.org/drawingml/2006/main">
            <a:off x="5715000" y="1965386"/>
            <a:ext cx="5953125" cy="292722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E0186-E941-4D34-BE94-CB72636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Figure 3 · MedRep → SimMR</a:t>
            </a:r>
          </a:p>
        </p:txBody>
      </p:sp>
    </p:spTree>
    <p:extLst>
      <p:ext uri="{BB962C8B-B14F-4D97-AF65-F5344CB8AC3E}">
        <p14:creationId xmlns:p14="http://schemas.microsoft.com/office/powerpoint/2010/main" val="14904583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E180BA-64FD-4DFA-BF83-CA51D520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Hai mô hình khác đơn vị graph và embedding đầu ra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774D28AA-CB7C-4AA5-B093-08F75D54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Tổng hợp từ hai paper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CB0959-0CA1-4968-9394-68D156B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 flipV="0">
            <a:off x="6096000" y="1209675"/>
            <a:ext cx="0" cy="4648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777A-2280-457B-8BBA-525932B4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GT-BEHRT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590F2-6835-4B58-BD1B-AB0DC134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71675"/>
            <a:ext cx="5334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Cấu trúc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Một ordinary graph cho mỗi visit.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Fully connected, typed undirected edges.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Embedding đọc ra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g_t: state của virtual node &lt;VST&gt;.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v_t: g_t + 4 context embeddings.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S_&lt;CLS&gt;: patient-level embedding.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Nguồn quan hệ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Học ngầm từ co-occurrence trong chính visit + edge 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EDF3D-2720-4E06-9D9C-6FC5D34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811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HypeMed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3E11E-A382-4508-A3CD-842BAC7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971675"/>
            <a:ext cx="5334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Cấu trúc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Ba global hypergraphs theo D/P/M.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Visit là hyperedge; incidence là code thuộc 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Embedding đọc ra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Zˣ: entity/node embedding.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Uˣ: visit/hyperedge embedding.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v_t: history + retrieved similar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Nguồn quan hệ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Co-membership qua nhiều visits + prior khoảng cách ICD/ATC.</a:t>
            </a:r>
          </a:p>
        </p:txBody>
      </p:sp>
    </p:spTree>
    <p:extLst>
      <p:ext uri="{BB962C8B-B14F-4D97-AF65-F5344CB8AC3E}">
        <p14:creationId xmlns:p14="http://schemas.microsoft.com/office/powerpoint/2010/main" val="952565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D86505-CB51-42A1-85EC-552F077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Retrieval: index HypeMed + context GT-BEHRT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64D2A69E-9744-453F-BAB0-30452D0A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Suy luận thiết kế dựa trên hai paper và phạm vi SimilarCasesRetrieval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B00204-593D-4A86-AFA4-3E2EE59C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 flipV="0">
            <a:off x="6096000" y="1571625"/>
            <a:ext cx="0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 flipV="0">
            <a:off x="390525" y="3619500"/>
            <a:ext cx="11410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55D24-0940-47DC-B8C0-BFDE27F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Đơn vị retrieval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3F36-4828-4DA3-BAAC-F22EA54C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6692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Dùng hadm_id/visit embedding làm index. HypeMed Uᴴ là mẫu trực tiếp cho visit-level nearest-neighbor retrieval.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F0052-0C98-4EE7-A3C2-B0553B41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71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Input leakage-safe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B5A87-7F43-455C-8A9E-0EC0E0C4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6692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Giữ nguyên nguyên tắc GT-BEHRT: chỉ dùng dữ liệu trước query time. Diagnosis/outcome tương lai chỉ để đánh giá.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6D40B-A9FA-4DB3-BDDB-616EE25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Context nên bổ sung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9A35-5333-42F5-B038-D980703F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Kết hợp graph/hypergraph representation với age, visit type, time-of-year và relative visit position nếu hợp lệ.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A40C9-8A52-4E43-A390-74B3CEEF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90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Metric space phải được học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AED13-FE70-4B9B-9621-9E1CEC1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86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Contrastive pre-training ở node + visit level giúp embedding phục vụ retrieval, thay vì dùng graph encoder chưa huấn luyện.</a:t>
            </a:r>
          </a:p>
        </p:txBody>
      </p:sp>
    </p:spTree>
    <p:extLst>
      <p:ext uri="{BB962C8B-B14F-4D97-AF65-F5344CB8AC3E}">
        <p14:creationId xmlns:p14="http://schemas.microsoft.com/office/powerpoint/2010/main" val="1941608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3EC5A4-9F27-4342-8F06-768F939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Paper chưa đủ để tái lập preprocessing MIMIC-IV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25D1A5F-B74C-4950-828A-0CFD775C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Các khoảng trống được xác định khi đối chiếu main text và appendix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B29936-400E-4BE5-B521-0215F164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 flipV="0">
            <a:off x="6096000" y="1304925"/>
            <a:ext cx="0" cy="44100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AD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31DD8-CCCD-46BC-8CAC-DE58278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GT-BEHRT chưa công bố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364BC-CAE6-4855-B537-0CF9D26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66925"/>
            <a:ext cx="53340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MIMIC-IV version cụ thể.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Raw table → condition / medication / procedure mapping.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Chuẩn mã và xử lý ICD-9/ICD-10, drug identifiers.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Quy tắc gộp event thành visit ngoài mô tả ‘hosp module’.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Chi tiết cohort pre-training.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Bảng hyperparameter dùng graph hidden 108 và patient Transformer 540; cần kiểm tra code để chốt tensor dimensions.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2311D-CCC5-4073-8BAF-9B6BE7C2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76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HypeMed chưa công bố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DE14-2AAB-4CB5-A23D-DA802329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66925"/>
            <a:ext cx="53340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Threshold ‘low-frequency’.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Raw MIMIC-IV table mapping và crosswalk ICD/ATC.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Train / validation / test split ratio.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Dropout rate riêng cho node / incidence / feature.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Cách hợp nhất D+P thành health-status subspace Uᴴ.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Tie-breaking, metric normalization và index implementation cho top-k retrieval.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6BB51-6EA7-48FF-A960-1599B05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rPr>
              <a:t>Khi triển khai: ghi rõ assumption trong docs/DATA.md và docs/DECISIONS.md; không suy diễn code mapping lâm sàng.</a:t>
            </a:r>
          </a:p>
        </p:txBody>
      </p:sp>
    </p:spTree>
    <p:extLst>
      <p:ext uri="{BB962C8B-B14F-4D97-AF65-F5344CB8AC3E}">
        <p14:creationId xmlns:p14="http://schemas.microsoft.com/office/powerpoint/2010/main" val="1288602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FE4542-5D7B-459B-8931-355795A6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Blueprint: pre-train visit embeddings rồi lập index</a:t>
            </a:r>
          </a:p>
        </p:txBody>
      </p:sp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30EB5AE-1F68-4A15-BCCF-B65DC91F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16B"/>
                </a:solidFill>
                <a:latin typeface="Helvetica Neue"/>
                <a:ea typeface="Helvetica Neue"/>
                <a:cs typeface="Helvetica Neue"/>
              </a:rPr>
              <a:t>Tổng hợp ứng dụng cho SimilarCasesRetrieval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42D87E5-0A65-42F7-8BEE-A59762A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98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 flipV="0">
            <a:off x="438150" y="5334000"/>
            <a:ext cx="113633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8FFA7-2730-458E-ACF6-FB03E27B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FC592-CFB1-44C6-8407-C3990F2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A6A00"/>
                </a:solidFill>
                <a:latin typeface="Helvetica Neue"/>
                <a:ea typeface="Helvetica Neue"/>
                <a:cs typeface="Helvetica Neue"/>
              </a:rPr>
              <a:t>DATA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5EB0-93F9-4938-9424-2A9DB696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2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Chốt query-time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86F05-2CEC-4BEB-BC79-2FCFA512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hadm_id, timestamp cutoff, code vocabularies, text/lab modalities và split theo subject_id. Ghi lineage + leakage rules.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A1C4C-4E26-4663-8EAA-21CDE37E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F93C3-F75D-429B-B069-15D3E02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Chuẩn hóa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22AC6-A7E6-4C2D-AC29-F6987654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2B0AF-8408-4365-8CAB-7BCE83FD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078C0"/>
                </a:solidFill>
                <a:latin typeface="Helvetica Neue"/>
                <a:ea typeface="Helvetica Neue"/>
                <a:cs typeface="Helvetica Neue"/>
              </a:rPr>
              <a:t>REPRESENTATION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8B68C-98B5-4BE2-874C-76EE6D7B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Pre-train visit 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DC379-EA7B-48CF-A477-55F6C56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Thử GT visit graph hoặc HypeMed-style hypergraph. Học metric bằng self-supervised/contrastive objective; export embeddings kèm metadata.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2ABE3-E8D8-4EF2-A84A-B747C68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66755-219E-4C5B-BB1C-CB70AC59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Học 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DDE9D-7232-4A75-AF17-D94D006C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5718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12521-9DD1-4C6D-81B0-3DBFAE7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288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7841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DAEB5-2B92-4BB9-BC3A-3A142AE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57425"/>
            <a:ext cx="296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Index + đánh giá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2F5C4-06B9-44A3-B845-D7FE3DB7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9622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Index chỉ trên reference split. Query top-k bằng cosine/IP; đánh giá relevance, leakage, calibration và qualitative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F83AD-C897-480A-9876-90CB577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D4D6B-9B69-4368-9132-E68C7B55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Truy hồi</a:t>
            </a:r>
          </a:p>
        </p:txBody>
      </p:sp>
    </p:spTree>
    <p:extLst>
      <p:ext uri="{BB962C8B-B14F-4D97-AF65-F5344CB8AC3E}">
        <p14:creationId xmlns:p14="http://schemas.microsoft.com/office/powerpoint/2010/main" val="1025057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2026-08-09T09:15:36.1010000Z</dcterms:created>
  <dcterms:modified xsi:type="dcterms:W3CDTF">2026-08-09T09:15:36.1010000Z</dcterms:modified>
</coreProperties>
</file>